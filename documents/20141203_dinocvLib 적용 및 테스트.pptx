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8" r:id="rId2"/>
    <p:sldId id="270" r:id="rId3"/>
    <p:sldId id="283" r:id="rId4"/>
    <p:sldId id="271" r:id="rId5"/>
    <p:sldId id="272" r:id="rId6"/>
    <p:sldId id="273" r:id="rId7"/>
    <p:sldId id="277" r:id="rId8"/>
    <p:sldId id="274" r:id="rId9"/>
    <p:sldId id="275" r:id="rId10"/>
    <p:sldId id="276" r:id="rId11"/>
    <p:sldId id="278" r:id="rId12"/>
    <p:sldId id="279" r:id="rId13"/>
    <p:sldId id="280" r:id="rId14"/>
    <p:sldId id="281" r:id="rId15"/>
  </p:sldIdLst>
  <p:sldSz cx="9144000" cy="5715000" type="screen16x1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80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5050"/>
    <a:srgbClr val="FF9900"/>
    <a:srgbClr val="339966"/>
    <a:srgbClr val="006666"/>
    <a:srgbClr val="00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109" autoAdjust="0"/>
    <p:restoredTop sz="94660"/>
  </p:normalViewPr>
  <p:slideViewPr>
    <p:cSldViewPr>
      <p:cViewPr varScale="1">
        <p:scale>
          <a:sx n="83" d="100"/>
          <a:sy n="83" d="100"/>
        </p:scale>
        <p:origin x="654" y="96"/>
      </p:cViewPr>
      <p:guideLst>
        <p:guide orient="horz" pos="180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>
          <a:xfrm>
            <a:off x="0" y="728"/>
            <a:ext cx="9144000" cy="5715000"/>
          </a:xfrm>
          <a:prstGeom prst="rect">
            <a:avLst/>
          </a:prstGeom>
          <a:solidFill>
            <a:schemeClr val="tx1">
              <a:alpha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 userDrawn="1"/>
        </p:nvSpPr>
        <p:spPr>
          <a:xfrm rot="20682407">
            <a:off x="6002589" y="1203652"/>
            <a:ext cx="1538210" cy="1281842"/>
          </a:xfrm>
          <a:prstGeom prst="rect">
            <a:avLst/>
          </a:prstGeom>
          <a:solidFill>
            <a:schemeClr val="bg1">
              <a:alpha val="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/>
          <p:cNvSpPr/>
          <p:nvPr userDrawn="1"/>
        </p:nvSpPr>
        <p:spPr>
          <a:xfrm rot="1088861">
            <a:off x="903933" y="3302341"/>
            <a:ext cx="2234183" cy="1861819"/>
          </a:xfrm>
          <a:prstGeom prst="rect">
            <a:avLst/>
          </a:prstGeom>
          <a:solidFill>
            <a:schemeClr val="bg1">
              <a:alpha val="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/>
          <p:cNvSpPr/>
          <p:nvPr userDrawn="1"/>
        </p:nvSpPr>
        <p:spPr>
          <a:xfrm rot="19739353">
            <a:off x="2633636" y="1541238"/>
            <a:ext cx="798751" cy="665626"/>
          </a:xfrm>
          <a:prstGeom prst="rect">
            <a:avLst/>
          </a:prstGeom>
          <a:solidFill>
            <a:schemeClr val="bg1">
              <a:alpha val="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/>
          <p:cNvSpPr/>
          <p:nvPr userDrawn="1"/>
        </p:nvSpPr>
        <p:spPr>
          <a:xfrm rot="20682407">
            <a:off x="6582293" y="-327796"/>
            <a:ext cx="2470802" cy="2059002"/>
          </a:xfrm>
          <a:prstGeom prst="rect">
            <a:avLst/>
          </a:prstGeom>
          <a:solidFill>
            <a:schemeClr val="bg1">
              <a:alpha val="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/>
          <p:cNvSpPr/>
          <p:nvPr userDrawn="1"/>
        </p:nvSpPr>
        <p:spPr>
          <a:xfrm rot="20700000">
            <a:off x="-1111710" y="3854389"/>
            <a:ext cx="3247789" cy="2706491"/>
          </a:xfrm>
          <a:prstGeom prst="rect">
            <a:avLst/>
          </a:prstGeom>
          <a:solidFill>
            <a:schemeClr val="bg1">
              <a:alpha val="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/>
          <p:cNvSpPr/>
          <p:nvPr userDrawn="1"/>
        </p:nvSpPr>
        <p:spPr>
          <a:xfrm>
            <a:off x="2339755" y="1533996"/>
            <a:ext cx="527327" cy="439439"/>
          </a:xfrm>
          <a:prstGeom prst="rect">
            <a:avLst/>
          </a:prstGeom>
          <a:solidFill>
            <a:schemeClr val="bg1">
              <a:alpha val="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/>
          <p:cNvSpPr/>
          <p:nvPr userDrawn="1"/>
        </p:nvSpPr>
        <p:spPr>
          <a:xfrm rot="471631">
            <a:off x="2306173" y="1537289"/>
            <a:ext cx="527327" cy="439439"/>
          </a:xfrm>
          <a:prstGeom prst="rect">
            <a:avLst/>
          </a:prstGeom>
          <a:solidFill>
            <a:schemeClr val="bg1">
              <a:alpha val="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/>
          <p:cNvSpPr/>
          <p:nvPr userDrawn="1"/>
        </p:nvSpPr>
        <p:spPr>
          <a:xfrm rot="20053874">
            <a:off x="2631747" y="1551773"/>
            <a:ext cx="798751" cy="665626"/>
          </a:xfrm>
          <a:prstGeom prst="rect">
            <a:avLst/>
          </a:prstGeom>
          <a:solidFill>
            <a:schemeClr val="bg1">
              <a:alpha val="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/>
          <p:cNvSpPr/>
          <p:nvPr userDrawn="1"/>
        </p:nvSpPr>
        <p:spPr>
          <a:xfrm rot="978229">
            <a:off x="880243" y="3302340"/>
            <a:ext cx="2234183" cy="1861819"/>
          </a:xfrm>
          <a:prstGeom prst="rect">
            <a:avLst/>
          </a:prstGeom>
          <a:solidFill>
            <a:schemeClr val="bg1">
              <a:alpha val="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/>
          <p:cNvSpPr/>
          <p:nvPr userDrawn="1"/>
        </p:nvSpPr>
        <p:spPr>
          <a:xfrm rot="20590364">
            <a:off x="-1079983" y="3824720"/>
            <a:ext cx="3247789" cy="2706491"/>
          </a:xfrm>
          <a:prstGeom prst="rect">
            <a:avLst/>
          </a:prstGeom>
          <a:solidFill>
            <a:schemeClr val="bg1">
              <a:alpha val="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/>
          <p:cNvSpPr/>
          <p:nvPr userDrawn="1"/>
        </p:nvSpPr>
        <p:spPr>
          <a:xfrm rot="20682407">
            <a:off x="6059158" y="1233128"/>
            <a:ext cx="1538210" cy="1281842"/>
          </a:xfrm>
          <a:prstGeom prst="rect">
            <a:avLst/>
          </a:prstGeom>
          <a:solidFill>
            <a:schemeClr val="bg1">
              <a:alpha val="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/>
          <p:cNvSpPr/>
          <p:nvPr userDrawn="1"/>
        </p:nvSpPr>
        <p:spPr>
          <a:xfrm rot="20369473">
            <a:off x="6015332" y="1230339"/>
            <a:ext cx="1538210" cy="1281842"/>
          </a:xfrm>
          <a:prstGeom prst="rect">
            <a:avLst/>
          </a:prstGeom>
          <a:solidFill>
            <a:schemeClr val="bg1">
              <a:alpha val="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/>
          <p:cNvSpPr/>
          <p:nvPr userDrawn="1"/>
        </p:nvSpPr>
        <p:spPr>
          <a:xfrm rot="20508024">
            <a:off x="6592992" y="-295722"/>
            <a:ext cx="2470802" cy="2059002"/>
          </a:xfrm>
          <a:prstGeom prst="rect">
            <a:avLst/>
          </a:prstGeom>
          <a:solidFill>
            <a:schemeClr val="bg1">
              <a:alpha val="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ctrTitle" hasCustomPrompt="1"/>
          </p:nvPr>
        </p:nvSpPr>
        <p:spPr>
          <a:xfrm>
            <a:off x="685800" y="1775356"/>
            <a:ext cx="7772400" cy="1225021"/>
          </a:xfrm>
        </p:spPr>
        <p:txBody>
          <a:bodyPr>
            <a:normAutofit/>
          </a:bodyPr>
          <a:lstStyle>
            <a:lvl1pPr marL="0" algn="ctr" defTabSz="914400" rtl="0" eaLnBrk="1" latinLnBrk="1" hangingPunct="1">
              <a:defRPr lang="ko-KR" altLang="en-US" sz="3600" b="1" kern="1200" spc="-300" baseline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Y나무L" pitchFamily="18" charset="-127"/>
                <a:ea typeface="HY나무L" pitchFamily="18" charset="-127"/>
                <a:cs typeface="+mn-cs"/>
              </a:defRPr>
            </a:lvl1pPr>
          </a:lstStyle>
          <a:p>
            <a:r>
              <a:rPr lang="ko-KR" altLang="en-US" dirty="0" smtClean="0"/>
              <a:t>대주제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 hasCustomPrompt="1"/>
          </p:nvPr>
        </p:nvSpPr>
        <p:spPr>
          <a:xfrm>
            <a:off x="1371600" y="3440024"/>
            <a:ext cx="6400800" cy="513744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85000"/>
                  </a:schemeClr>
                </a:solidFill>
                <a:latin typeface="HY나무L" panose="02030600000101010101" pitchFamily="18" charset="-127"/>
                <a:ea typeface="HY나무L" panose="02030600000101010101" pitchFamily="18" charset="-127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dirty="0" smtClean="0"/>
              <a:t>소주제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2015. 3. 24.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26" name="텍스트 개체 틀 25"/>
          <p:cNvSpPr>
            <a:spLocks noGrp="1"/>
          </p:cNvSpPr>
          <p:nvPr>
            <p:ph type="body" sz="quarter" idx="13" hasCustomPrompt="1"/>
          </p:nvPr>
        </p:nvSpPr>
        <p:spPr>
          <a:xfrm>
            <a:off x="434975" y="540251"/>
            <a:ext cx="2689225" cy="588963"/>
          </a:xfrm>
        </p:spPr>
        <p:txBody>
          <a:bodyPr anchor="ctr">
            <a:noAutofit/>
          </a:bodyPr>
          <a:lstStyle>
            <a:lvl1pPr marL="0" indent="0" algn="l" defTabSz="914400" rtl="0" eaLnBrk="1" latinLnBrk="1" hangingPunct="1">
              <a:spcBef>
                <a:spcPct val="0"/>
              </a:spcBef>
              <a:buNone/>
              <a:defRPr lang="ko-KR" altLang="en-US" sz="2000" b="1" kern="1200" baseline="0" dirty="0">
                <a:solidFill>
                  <a:schemeClr val="bg1">
                    <a:lumMod val="85000"/>
                    <a:alpha val="7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HY나무L" panose="02030600000101010101" pitchFamily="18" charset="-127"/>
                <a:cs typeface="+mj-cs"/>
              </a:defRPr>
            </a:lvl1pPr>
          </a:lstStyle>
          <a:p>
            <a:pPr lvl="0"/>
            <a:r>
              <a:rPr lang="ko-KR" altLang="en-US" dirty="0" smtClean="0"/>
              <a:t>날짜</a:t>
            </a:r>
            <a:endParaRPr lang="ko-KR" altLang="en-US" dirty="0"/>
          </a:p>
        </p:txBody>
      </p:sp>
      <p:sp>
        <p:nvSpPr>
          <p:cNvPr id="29" name="직사각형 28"/>
          <p:cNvSpPr/>
          <p:nvPr userDrawn="1"/>
        </p:nvSpPr>
        <p:spPr>
          <a:xfrm rot="20590364">
            <a:off x="-1064519" y="3924573"/>
            <a:ext cx="3247789" cy="2706491"/>
          </a:xfrm>
          <a:prstGeom prst="rect">
            <a:avLst/>
          </a:prstGeom>
          <a:solidFill>
            <a:schemeClr val="bg1">
              <a:alpha val="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3" name="그룹 52"/>
          <p:cNvGrpSpPr/>
          <p:nvPr userDrawn="1"/>
        </p:nvGrpSpPr>
        <p:grpSpPr>
          <a:xfrm>
            <a:off x="467544" y="5241463"/>
            <a:ext cx="1873435" cy="423193"/>
            <a:chOff x="573190" y="5923"/>
            <a:chExt cx="1873435" cy="423193"/>
          </a:xfrm>
        </p:grpSpPr>
        <p:pic>
          <p:nvPicPr>
            <p:cNvPr id="45" name="Picture 2" descr="http://www.attogift.com/data/rental/board_upload/logo/thumb/logomark_109.jpg"/>
            <p:cNvPicPr>
              <a:picLocks noChangeAspect="1" noChangeArrowheads="1"/>
            </p:cNvPicPr>
            <p:nvPr userDrawn="1"/>
          </p:nvPicPr>
          <p:blipFill>
            <a:blip r:embed="rId2" cstate="print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0" b="100000" l="0" r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3190" y="41032"/>
              <a:ext cx="363780" cy="3637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6" name="TextBox 45"/>
            <p:cNvSpPr txBox="1"/>
            <p:nvPr userDrawn="1"/>
          </p:nvSpPr>
          <p:spPr>
            <a:xfrm>
              <a:off x="911615" y="5923"/>
              <a:ext cx="1535010" cy="4231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550" dirty="0" smtClean="0">
                  <a:solidFill>
                    <a:schemeClr val="bg1">
                      <a:lumMod val="65000"/>
                    </a:schemeClr>
                  </a:solidFill>
                  <a:latin typeface="+mj-lt"/>
                </a:rPr>
                <a:t>국립</a:t>
              </a:r>
              <a:endParaRPr lang="en-US" altLang="ko-KR" sz="550" dirty="0" smtClean="0">
                <a:solidFill>
                  <a:schemeClr val="bg1">
                    <a:lumMod val="65000"/>
                  </a:schemeClr>
                </a:solidFill>
                <a:latin typeface="+mj-lt"/>
              </a:endParaRPr>
            </a:p>
            <a:p>
              <a:r>
                <a:rPr lang="ko-KR" altLang="en-US" sz="1000" dirty="0" smtClean="0">
                  <a:solidFill>
                    <a:schemeClr val="bg1">
                      <a:lumMod val="65000"/>
                    </a:schemeClr>
                  </a:solidFill>
                  <a:latin typeface="+mj-lt"/>
                </a:rPr>
                <a:t>한 밭 대 학 교</a:t>
              </a:r>
              <a:endParaRPr lang="en-US" altLang="ko-KR" sz="1000" dirty="0" smtClean="0">
                <a:solidFill>
                  <a:schemeClr val="bg1">
                    <a:lumMod val="65000"/>
                  </a:schemeClr>
                </a:solidFill>
                <a:latin typeface="+mj-lt"/>
              </a:endParaRPr>
            </a:p>
            <a:p>
              <a:r>
                <a:rPr lang="en-US" altLang="ko-KR" sz="500" dirty="0" smtClean="0">
                  <a:solidFill>
                    <a:schemeClr val="bg1">
                      <a:lumMod val="65000"/>
                    </a:schemeClr>
                  </a:solidFill>
                  <a:latin typeface="+mj-lt"/>
                  <a:ea typeface="Microsoft YaHei UI Light" panose="020B0502040204020203" pitchFamily="34" charset="-122"/>
                </a:rPr>
                <a:t>HANBAT</a:t>
              </a:r>
              <a:r>
                <a:rPr lang="en-US" altLang="ko-KR" sz="500" baseline="0" dirty="0" smtClean="0">
                  <a:solidFill>
                    <a:schemeClr val="bg1">
                      <a:lumMod val="65000"/>
                    </a:schemeClr>
                  </a:solidFill>
                  <a:latin typeface="+mj-lt"/>
                  <a:ea typeface="Microsoft YaHei UI Light" panose="020B0502040204020203" pitchFamily="34" charset="-122"/>
                </a:rPr>
                <a:t> NATIONAL UNIVERSITY</a:t>
              </a:r>
              <a:endParaRPr lang="ko-KR" altLang="en-US" sz="500" dirty="0">
                <a:solidFill>
                  <a:schemeClr val="bg1">
                    <a:lumMod val="65000"/>
                  </a:schemeClr>
                </a:solidFill>
                <a:latin typeface="+mj-lt"/>
              </a:endParaRPr>
            </a:p>
          </p:txBody>
        </p:sp>
        <p:cxnSp>
          <p:nvCxnSpPr>
            <p:cNvPr id="47" name="직선 연결선 46"/>
            <p:cNvCxnSpPr/>
            <p:nvPr userDrawn="1"/>
          </p:nvCxnSpPr>
          <p:spPr>
            <a:xfrm>
              <a:off x="1000515" y="282252"/>
              <a:ext cx="957825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7" name="텍스트 개체 틀 56"/>
          <p:cNvSpPr>
            <a:spLocks noGrp="1"/>
          </p:cNvSpPr>
          <p:nvPr>
            <p:ph type="body" sz="quarter" idx="14" hasCustomPrompt="1"/>
          </p:nvPr>
        </p:nvSpPr>
        <p:spPr>
          <a:xfrm>
            <a:off x="6827837" y="4530942"/>
            <a:ext cx="1584325" cy="332209"/>
          </a:xfrm>
        </p:spPr>
        <p:txBody>
          <a:bodyPr anchor="ctr">
            <a:normAutofit/>
          </a:bodyPr>
          <a:lstStyle>
            <a:lvl1pPr marL="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lang="ko-KR" altLang="en-US" sz="2000" kern="1200" dirty="0">
                <a:solidFill>
                  <a:schemeClr val="bg1">
                    <a:lumMod val="85000"/>
                  </a:schemeClr>
                </a:solidFill>
                <a:latin typeface="HY나무L" panose="02030600000101010101" pitchFamily="18" charset="-127"/>
                <a:ea typeface="HY나무L" panose="02030600000101010101" pitchFamily="18" charset="-127"/>
                <a:cs typeface="+mn-cs"/>
              </a:defRPr>
            </a:lvl1pPr>
          </a:lstStyle>
          <a:p>
            <a:pPr lvl="0"/>
            <a:r>
              <a:rPr lang="ko-KR" altLang="en-US" dirty="0" smtClean="0"/>
              <a:t>발표자 이름</a:t>
            </a:r>
            <a:endParaRPr lang="ko-KR" altLang="en-US" dirty="0"/>
          </a:p>
        </p:txBody>
      </p:sp>
      <p:sp>
        <p:nvSpPr>
          <p:cNvPr id="58" name="TextBox 57"/>
          <p:cNvSpPr txBox="1"/>
          <p:nvPr userDrawn="1"/>
        </p:nvSpPr>
        <p:spPr>
          <a:xfrm>
            <a:off x="3130869" y="5310595"/>
            <a:ext cx="28803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ctr" defTabSz="914400" rtl="0" eaLnBrk="1" latinLnBrk="1" hangingPunct="1"/>
            <a:r>
              <a:rPr lang="en-US" altLang="ko-KR" sz="1200" kern="1200" dirty="0" smtClean="0">
                <a:solidFill>
                  <a:schemeClr val="bg1">
                    <a:lumMod val="75000"/>
                  </a:schemeClr>
                </a:solidFill>
                <a:latin typeface="HY나무L" panose="02030600000101010101" pitchFamily="18" charset="-127"/>
                <a:ea typeface="HY나무L" panose="02030600000101010101" pitchFamily="18" charset="-127"/>
                <a:cs typeface="+mn-cs"/>
              </a:rPr>
              <a:t>A Research Team Of ASIC &amp; CAD Lab.</a:t>
            </a:r>
            <a:endParaRPr lang="ko-KR" altLang="en-US" sz="1200" kern="1200" dirty="0">
              <a:solidFill>
                <a:schemeClr val="bg1">
                  <a:lumMod val="75000"/>
                </a:schemeClr>
              </a:solidFill>
              <a:latin typeface="HY나무L" panose="02030600000101010101" pitchFamily="18" charset="-127"/>
              <a:ea typeface="HY나무L" panose="02030600000101010101" pitchFamily="18" charset="-127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400">
        <p14:honeycomb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chemeClr val="tx1">
              <a:alpha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 userDrawn="1"/>
        </p:nvSpPr>
        <p:spPr>
          <a:xfrm>
            <a:off x="107504" y="79375"/>
            <a:ext cx="8928992" cy="5538432"/>
          </a:xfrm>
          <a:prstGeom prst="rect">
            <a:avLst/>
          </a:prstGeom>
          <a:solidFill>
            <a:schemeClr val="bg1">
              <a:alpha val="8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/>
          <p:cNvSpPr/>
          <p:nvPr userDrawn="1"/>
        </p:nvSpPr>
        <p:spPr>
          <a:xfrm>
            <a:off x="0" y="994"/>
            <a:ext cx="9144000" cy="660073"/>
          </a:xfrm>
          <a:prstGeom prst="rect">
            <a:avLst/>
          </a:prstGeom>
          <a:solidFill>
            <a:schemeClr val="tx1">
              <a:alpha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/>
          <p:cNvSpPr/>
          <p:nvPr userDrawn="1"/>
        </p:nvSpPr>
        <p:spPr>
          <a:xfrm rot="20682407">
            <a:off x="6002589" y="1203652"/>
            <a:ext cx="1538210" cy="1281842"/>
          </a:xfrm>
          <a:prstGeom prst="rect">
            <a:avLst/>
          </a:prstGeom>
          <a:solidFill>
            <a:schemeClr val="bg1">
              <a:lumMod val="65000"/>
              <a:alpha val="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/>
          <p:cNvSpPr/>
          <p:nvPr userDrawn="1"/>
        </p:nvSpPr>
        <p:spPr>
          <a:xfrm rot="1088861">
            <a:off x="903933" y="3302341"/>
            <a:ext cx="2234183" cy="1861819"/>
          </a:xfrm>
          <a:prstGeom prst="rect">
            <a:avLst/>
          </a:prstGeom>
          <a:solidFill>
            <a:schemeClr val="bg1">
              <a:lumMod val="65000"/>
              <a:alpha val="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/>
          <p:cNvSpPr/>
          <p:nvPr userDrawn="1"/>
        </p:nvSpPr>
        <p:spPr>
          <a:xfrm rot="19739353">
            <a:off x="2633636" y="1541238"/>
            <a:ext cx="798751" cy="665626"/>
          </a:xfrm>
          <a:prstGeom prst="rect">
            <a:avLst/>
          </a:prstGeom>
          <a:solidFill>
            <a:schemeClr val="bg1">
              <a:lumMod val="65000"/>
              <a:alpha val="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/>
          <p:cNvSpPr/>
          <p:nvPr userDrawn="1"/>
        </p:nvSpPr>
        <p:spPr>
          <a:xfrm rot="20682407">
            <a:off x="6582293" y="-327796"/>
            <a:ext cx="2470802" cy="2059002"/>
          </a:xfrm>
          <a:prstGeom prst="rect">
            <a:avLst/>
          </a:prstGeom>
          <a:solidFill>
            <a:schemeClr val="bg1">
              <a:lumMod val="65000"/>
              <a:alpha val="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/>
          <p:cNvSpPr/>
          <p:nvPr userDrawn="1"/>
        </p:nvSpPr>
        <p:spPr>
          <a:xfrm>
            <a:off x="2339755" y="1533996"/>
            <a:ext cx="527327" cy="439439"/>
          </a:xfrm>
          <a:prstGeom prst="rect">
            <a:avLst/>
          </a:prstGeom>
          <a:solidFill>
            <a:schemeClr val="bg1">
              <a:lumMod val="65000"/>
              <a:alpha val="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28865"/>
            <a:ext cx="8229600" cy="277857"/>
          </a:xfrm>
        </p:spPr>
        <p:txBody>
          <a:bodyPr>
            <a:noAutofit/>
          </a:bodyPr>
          <a:lstStyle>
            <a:lvl1pPr marL="0" algn="l" defTabSz="914400" rtl="0" eaLnBrk="1" latinLnBrk="1" hangingPunct="1">
              <a:defRPr lang="ko-KR" altLang="en-US" sz="2800" kern="1200" spc="-3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Y나무L" pitchFamily="18" charset="-127"/>
                <a:ea typeface="HY나무L" pitchFamily="18" charset="-127"/>
                <a:cs typeface="+mn-cs"/>
              </a:defRPr>
            </a:lvl1pPr>
          </a:lstStyle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913284"/>
            <a:ext cx="8229600" cy="4191852"/>
          </a:xfrm>
        </p:spPr>
        <p:txBody>
          <a:bodyPr>
            <a:normAutofit/>
          </a:bodyPr>
          <a:lstStyle>
            <a:lvl1pPr marL="342900" indent="-342900">
              <a:buClr>
                <a:schemeClr val="bg1">
                  <a:lumMod val="50000"/>
                </a:schemeClr>
              </a:buClr>
              <a:buFont typeface="Wingdings" panose="05000000000000000000" pitchFamily="2" charset="2"/>
              <a:buChar char="§"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742950" indent="-285750">
              <a:buClr>
                <a:schemeClr val="bg1">
                  <a:lumMod val="50000"/>
                </a:schemeClr>
              </a:buClr>
              <a:buFont typeface="Wingdings" panose="05000000000000000000" pitchFamily="2" charset="2"/>
              <a:buChar char="§"/>
              <a:defRPr sz="2000">
                <a:solidFill>
                  <a:schemeClr val="bg1">
                    <a:lumMod val="50000"/>
                  </a:schemeClr>
                </a:solidFill>
              </a:defRPr>
            </a:lvl2pPr>
            <a:lvl3pPr marL="1143000" indent="-228600">
              <a:buClr>
                <a:schemeClr val="bg1">
                  <a:lumMod val="50000"/>
                </a:schemeClr>
              </a:buClr>
              <a:buFont typeface="Wingdings" panose="05000000000000000000" pitchFamily="2" charset="2"/>
              <a:buChar char="§"/>
              <a:defRPr sz="1800">
                <a:solidFill>
                  <a:schemeClr val="bg1">
                    <a:lumMod val="50000"/>
                  </a:schemeClr>
                </a:solidFill>
              </a:defRPr>
            </a:lvl3pPr>
            <a:lvl4pPr marL="1600200" indent="-228600">
              <a:buClr>
                <a:schemeClr val="bg1">
                  <a:lumMod val="50000"/>
                </a:schemeClr>
              </a:buClr>
              <a:buFont typeface="Wingdings" panose="05000000000000000000" pitchFamily="2" charset="2"/>
              <a:buChar char="§"/>
              <a:defRPr sz="1600">
                <a:solidFill>
                  <a:schemeClr val="bg1">
                    <a:lumMod val="50000"/>
                  </a:schemeClr>
                </a:solidFill>
              </a:defRPr>
            </a:lvl4pPr>
            <a:lvl5pPr marL="2057400" indent="-228600">
              <a:buClr>
                <a:schemeClr val="bg1">
                  <a:lumMod val="50000"/>
                </a:schemeClr>
              </a:buClr>
              <a:buFont typeface="Wingdings" panose="05000000000000000000" pitchFamily="2" charset="2"/>
              <a:buChar char="§"/>
              <a:defRPr sz="16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2015. 3. 24.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3672418"/>
            <a:ext cx="7772400" cy="1135063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422261"/>
            <a:ext cx="7772400" cy="125015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2015. 3. 24.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333500"/>
            <a:ext cx="4038600" cy="377163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333500"/>
            <a:ext cx="4038600" cy="377163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2015. 3. 24.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279262"/>
            <a:ext cx="4040188" cy="53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1812396"/>
            <a:ext cx="4040188" cy="329274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8" y="1279262"/>
            <a:ext cx="4041775" cy="53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8" y="1812396"/>
            <a:ext cx="4041775" cy="329274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2015. 3. 24.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2015. 3. 24.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2015. 3. 24.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3" y="227543"/>
            <a:ext cx="3008313" cy="96837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27542"/>
            <a:ext cx="5111750" cy="487759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3" y="1195918"/>
            <a:ext cx="3008313" cy="390921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2015. 3. 24.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000500"/>
            <a:ext cx="5486400" cy="472282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510646"/>
            <a:ext cx="5486400" cy="34290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4472782"/>
            <a:ext cx="5486400" cy="67071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2015. 3. 24.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2015. 3. 24.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28866"/>
            <a:ext cx="2057400" cy="4876271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28866"/>
            <a:ext cx="6019800" cy="4876271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2015. 3. 24.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28865"/>
            <a:ext cx="8229600" cy="952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333500"/>
            <a:ext cx="8229600" cy="37716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5296960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30EDBD-1C2D-4C1E-B459-B60219FAB484}" type="datetimeFigureOut">
              <a:rPr lang="ko-KR" altLang="en-US" smtClean="0"/>
              <a:t>2015. 3. 24.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5296960"/>
            <a:ext cx="2895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5296960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 err="1" smtClean="0"/>
              <a:t>dinocvLib</a:t>
            </a:r>
            <a:r>
              <a:rPr lang="en-US" altLang="ko-KR" dirty="0" smtClean="0"/>
              <a:t> </a:t>
            </a:r>
            <a:r>
              <a:rPr lang="ko-KR" altLang="en-US" dirty="0" smtClean="0"/>
              <a:t>적용 및 테스트</a:t>
            </a:r>
            <a:endParaRPr lang="ko-KR" altLang="en-US" dirty="0"/>
          </a:p>
        </p:txBody>
      </p:sp>
      <p:sp>
        <p:nvSpPr>
          <p:cNvPr id="6" name="텍스트 개체 틀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 smtClean="0"/>
              <a:t>Dec 04, 2014</a:t>
            </a:r>
            <a:endParaRPr lang="ko-KR" altLang="en-US" dirty="0"/>
          </a:p>
        </p:txBody>
      </p:sp>
      <p:sp>
        <p:nvSpPr>
          <p:cNvPr id="7" name="부제목 6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 smtClean="0"/>
              <a:t>ARTOA</a:t>
            </a:r>
            <a:endParaRPr lang="ko-KR" altLang="en-US" dirty="0"/>
          </a:p>
        </p:txBody>
      </p:sp>
      <p:sp>
        <p:nvSpPr>
          <p:cNvPr id="8" name="텍스트 개체 틀 7"/>
          <p:cNvSpPr>
            <a:spLocks noGrp="1"/>
          </p:cNvSpPr>
          <p:nvPr>
            <p:ph type="body" sz="quarter" idx="14"/>
          </p:nvPr>
        </p:nvSpPr>
        <p:spPr>
          <a:xfrm>
            <a:off x="5580113" y="4225652"/>
            <a:ext cx="2832050" cy="702822"/>
          </a:xfrm>
        </p:spPr>
        <p:txBody>
          <a:bodyPr>
            <a:normAutofit/>
          </a:bodyPr>
          <a:lstStyle/>
          <a:p>
            <a:r>
              <a:rPr lang="ko-KR" altLang="en-US" dirty="0" smtClean="0"/>
              <a:t>박병주</a:t>
            </a:r>
            <a:endParaRPr lang="ko-KR" altLang="en-US" dirty="0">
              <a:latin typeface="HY나무L" panose="02030600000101010101" pitchFamily="18" charset="-127"/>
              <a:ea typeface="HY나무L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544189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400">
        <p14:honeycomb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Contents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chemeClr val="bg1">
                  <a:lumMod val="50000"/>
                </a:schemeClr>
              </a:buClr>
            </a:pPr>
            <a:r>
              <a:rPr lang="ko-KR" altLang="en-US" dirty="0" smtClean="0"/>
              <a:t>라이브러리 디자인</a:t>
            </a:r>
            <a:endParaRPr lang="en-US" altLang="ko-KR" dirty="0" smtClean="0"/>
          </a:p>
          <a:p>
            <a:pPr>
              <a:buClr>
                <a:schemeClr val="bg1">
                  <a:lumMod val="50000"/>
                </a:schemeClr>
              </a:buClr>
            </a:pPr>
            <a:endParaRPr lang="en-US" altLang="ko-KR" dirty="0" smtClean="0"/>
          </a:p>
          <a:p>
            <a:pPr>
              <a:buClr>
                <a:schemeClr val="bg1">
                  <a:lumMod val="50000"/>
                </a:schemeClr>
              </a:buClr>
            </a:pPr>
            <a:r>
              <a:rPr lang="ko-KR" altLang="en-US" dirty="0" smtClean="0"/>
              <a:t>윈도우에서 라이브러리 로딩 방법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Pragma </a:t>
            </a:r>
            <a:r>
              <a:rPr lang="ko-KR" altLang="en-US" dirty="0" smtClean="0"/>
              <a:t>이용 </a:t>
            </a:r>
            <a:r>
              <a:rPr lang="en-US" altLang="ko-KR" dirty="0" smtClean="0"/>
              <a:t>:		</a:t>
            </a:r>
            <a:r>
              <a:rPr lang="ko-KR" altLang="en-US" dirty="0" smtClean="0"/>
              <a:t>모든 </a:t>
            </a:r>
            <a:r>
              <a:rPr lang="en-US" altLang="ko-KR" dirty="0" smtClean="0"/>
              <a:t>VS </a:t>
            </a:r>
            <a:r>
              <a:rPr lang="ko-KR" altLang="en-US" dirty="0" smtClean="0"/>
              <a:t>버전에 적용 가능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프로젝트 속성 이용</a:t>
            </a:r>
            <a:r>
              <a:rPr lang="en-US" altLang="ko-KR" dirty="0"/>
              <a:t> </a:t>
            </a:r>
            <a:r>
              <a:rPr lang="en-US" altLang="ko-KR" dirty="0" smtClean="0"/>
              <a:t>:	VS2005 </a:t>
            </a:r>
            <a:r>
              <a:rPr lang="ko-KR" altLang="en-US" dirty="0" smtClean="0"/>
              <a:t>이후에 적용되는 방법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				VS2012</a:t>
            </a:r>
            <a:r>
              <a:rPr lang="ko-KR" altLang="en-US" dirty="0" smtClean="0"/>
              <a:t>에서 작성</a:t>
            </a:r>
            <a:endParaRPr lang="en-US" altLang="ko-KR" dirty="0" smtClean="0"/>
          </a:p>
          <a:p>
            <a:pPr lvl="1"/>
            <a:endParaRPr lang="en-US" altLang="ko-KR" dirty="0" smtClean="0"/>
          </a:p>
          <a:p>
            <a:r>
              <a:rPr lang="ko-KR" altLang="en-US" dirty="0" smtClean="0"/>
              <a:t>라이브러리 테스트</a:t>
            </a:r>
            <a:r>
              <a:rPr lang="en-US" altLang="ko-KR" dirty="0" smtClean="0"/>
              <a:t>(</a:t>
            </a:r>
            <a:r>
              <a:rPr lang="ko-KR" altLang="en-US" dirty="0" err="1" smtClean="0"/>
              <a:t>간략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6271533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라이브러리 디자인</a:t>
            </a:r>
            <a:endParaRPr lang="ko-KR" altLang="en-US" dirty="0"/>
          </a:p>
        </p:txBody>
      </p:sp>
      <p:sp>
        <p:nvSpPr>
          <p:cNvPr id="5" name="모서리가 둥근 직사각형 4"/>
          <p:cNvSpPr/>
          <p:nvPr/>
        </p:nvSpPr>
        <p:spPr>
          <a:xfrm>
            <a:off x="2903792" y="2010678"/>
            <a:ext cx="1133967" cy="257720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err="1" smtClean="0"/>
              <a:t>imgcore</a:t>
            </a:r>
            <a:endParaRPr lang="ko-KR" altLang="en-US" sz="1200" dirty="0"/>
          </a:p>
        </p:txBody>
      </p:sp>
      <p:sp>
        <p:nvSpPr>
          <p:cNvPr id="6" name="모서리가 둥근 직사각형 5"/>
          <p:cNvSpPr/>
          <p:nvPr/>
        </p:nvSpPr>
        <p:spPr>
          <a:xfrm>
            <a:off x="2289919" y="2531464"/>
            <a:ext cx="1133967" cy="257720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err="1" smtClean="0"/>
              <a:t>bmpanal</a:t>
            </a:r>
            <a:endParaRPr lang="ko-KR" altLang="en-US" sz="1200" dirty="0"/>
          </a:p>
        </p:txBody>
      </p:sp>
      <p:sp>
        <p:nvSpPr>
          <p:cNvPr id="7" name="모서리가 둥근 직사각형 6"/>
          <p:cNvSpPr/>
          <p:nvPr/>
        </p:nvSpPr>
        <p:spPr>
          <a:xfrm>
            <a:off x="3537282" y="2532702"/>
            <a:ext cx="1133967" cy="257720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err="1" smtClean="0"/>
              <a:t>ppmanal</a:t>
            </a:r>
            <a:endParaRPr lang="ko-KR" altLang="en-US" sz="1200" dirty="0"/>
          </a:p>
        </p:txBody>
      </p:sp>
      <p:sp>
        <p:nvSpPr>
          <p:cNvPr id="8" name="모서리가 둥근 직사각형 7"/>
          <p:cNvSpPr/>
          <p:nvPr/>
        </p:nvSpPr>
        <p:spPr>
          <a:xfrm>
            <a:off x="2904514" y="3042256"/>
            <a:ext cx="1133967" cy="257720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err="1" smtClean="0"/>
              <a:t>imageio</a:t>
            </a:r>
            <a:endParaRPr lang="ko-KR" altLang="en-US" sz="1200" dirty="0"/>
          </a:p>
        </p:txBody>
      </p:sp>
      <p:sp>
        <p:nvSpPr>
          <p:cNvPr id="9" name="모서리가 둥근 직사각형 8"/>
          <p:cNvSpPr/>
          <p:nvPr/>
        </p:nvSpPr>
        <p:spPr>
          <a:xfrm>
            <a:off x="5238100" y="1997603"/>
            <a:ext cx="1133967" cy="257720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err="1" smtClean="0"/>
              <a:t>imgdraw</a:t>
            </a:r>
            <a:endParaRPr lang="ko-KR" altLang="en-US" sz="1200" dirty="0"/>
          </a:p>
        </p:txBody>
      </p:sp>
      <p:cxnSp>
        <p:nvCxnSpPr>
          <p:cNvPr id="10" name="꺾인 연결선 9"/>
          <p:cNvCxnSpPr>
            <a:stCxn id="5" idx="2"/>
            <a:endCxn id="6" idx="0"/>
          </p:cNvCxnSpPr>
          <p:nvPr/>
        </p:nvCxnSpPr>
        <p:spPr>
          <a:xfrm rot="5400000">
            <a:off x="3032307" y="2092995"/>
            <a:ext cx="263066" cy="613873"/>
          </a:xfrm>
          <a:prstGeom prst="bentConnector3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꺾인 연결선 10"/>
          <p:cNvCxnSpPr>
            <a:stCxn id="5" idx="2"/>
            <a:endCxn id="7" idx="0"/>
          </p:cNvCxnSpPr>
          <p:nvPr/>
        </p:nvCxnSpPr>
        <p:spPr>
          <a:xfrm rot="16200000" flipH="1">
            <a:off x="3655369" y="2083805"/>
            <a:ext cx="264304" cy="633490"/>
          </a:xfrm>
          <a:prstGeom prst="bentConnector3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꺾인 연결선 11"/>
          <p:cNvCxnSpPr>
            <a:stCxn id="6" idx="2"/>
            <a:endCxn id="8" idx="0"/>
          </p:cNvCxnSpPr>
          <p:nvPr/>
        </p:nvCxnSpPr>
        <p:spPr>
          <a:xfrm rot="16200000" flipH="1">
            <a:off x="3037664" y="2608422"/>
            <a:ext cx="253072" cy="614595"/>
          </a:xfrm>
          <a:prstGeom prst="bentConnector3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꺾인 연결선 12"/>
          <p:cNvCxnSpPr>
            <a:stCxn id="7" idx="2"/>
            <a:endCxn id="8" idx="0"/>
          </p:cNvCxnSpPr>
          <p:nvPr/>
        </p:nvCxnSpPr>
        <p:spPr>
          <a:xfrm rot="5400000">
            <a:off x="3661965" y="2599955"/>
            <a:ext cx="251834" cy="632768"/>
          </a:xfrm>
          <a:prstGeom prst="bentConnector3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모서리가 둥근 직사각형 13"/>
          <p:cNvSpPr/>
          <p:nvPr/>
        </p:nvSpPr>
        <p:spPr>
          <a:xfrm>
            <a:off x="5222929" y="1591984"/>
            <a:ext cx="1133967" cy="260297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err="1" smtClean="0"/>
              <a:t>imgtrans</a:t>
            </a:r>
            <a:endParaRPr lang="ko-KR" altLang="en-US" sz="1200" dirty="0"/>
          </a:p>
        </p:txBody>
      </p:sp>
      <p:cxnSp>
        <p:nvCxnSpPr>
          <p:cNvPr id="15" name="직선 연결선 14"/>
          <p:cNvCxnSpPr>
            <a:stCxn id="5" idx="3"/>
            <a:endCxn id="14" idx="1"/>
          </p:cNvCxnSpPr>
          <p:nvPr/>
        </p:nvCxnSpPr>
        <p:spPr>
          <a:xfrm flipV="1">
            <a:off x="4037759" y="1722133"/>
            <a:ext cx="1185170" cy="41740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/>
          <p:cNvCxnSpPr>
            <a:stCxn id="5" idx="3"/>
            <a:endCxn id="9" idx="1"/>
          </p:cNvCxnSpPr>
          <p:nvPr/>
        </p:nvCxnSpPr>
        <p:spPr>
          <a:xfrm flipV="1">
            <a:off x="4037759" y="2126463"/>
            <a:ext cx="1200341" cy="1307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모서리가 둥근 직사각형 16"/>
          <p:cNvSpPr/>
          <p:nvPr/>
        </p:nvSpPr>
        <p:spPr>
          <a:xfrm>
            <a:off x="2051720" y="1075035"/>
            <a:ext cx="4536504" cy="2367404"/>
          </a:xfrm>
          <a:prstGeom prst="round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altLang="ko-KR" sz="1200" dirty="0" smtClean="0">
              <a:solidFill>
                <a:schemeClr val="tx1"/>
              </a:solidFill>
            </a:endParaRPr>
          </a:p>
          <a:p>
            <a:pPr algn="r"/>
            <a:endParaRPr lang="en-US" altLang="ko-KR" sz="1200" dirty="0">
              <a:solidFill>
                <a:schemeClr val="tx1"/>
              </a:solidFill>
            </a:endParaRPr>
          </a:p>
          <a:p>
            <a:pPr algn="r"/>
            <a:endParaRPr lang="en-US" altLang="ko-KR" sz="1200" dirty="0" smtClean="0">
              <a:solidFill>
                <a:schemeClr val="tx1"/>
              </a:solidFill>
            </a:endParaRPr>
          </a:p>
          <a:p>
            <a:pPr algn="r"/>
            <a:endParaRPr lang="en-US" altLang="ko-KR" sz="1200" dirty="0">
              <a:solidFill>
                <a:schemeClr val="tx1"/>
              </a:solidFill>
            </a:endParaRPr>
          </a:p>
          <a:p>
            <a:pPr algn="r"/>
            <a:endParaRPr lang="en-US" altLang="ko-KR" sz="1200" dirty="0" smtClean="0">
              <a:solidFill>
                <a:schemeClr val="tx1"/>
              </a:solidFill>
            </a:endParaRPr>
          </a:p>
          <a:p>
            <a:pPr algn="r"/>
            <a:endParaRPr lang="en-US" altLang="ko-KR" sz="1200" dirty="0" smtClean="0">
              <a:solidFill>
                <a:schemeClr val="tx1"/>
              </a:solidFill>
            </a:endParaRPr>
          </a:p>
          <a:p>
            <a:pPr algn="r"/>
            <a:endParaRPr lang="en-US" altLang="ko-KR" sz="1200" dirty="0">
              <a:solidFill>
                <a:schemeClr val="tx1"/>
              </a:solidFill>
            </a:endParaRPr>
          </a:p>
          <a:p>
            <a:pPr algn="r"/>
            <a:endParaRPr lang="en-US" altLang="ko-KR" sz="1200" dirty="0" smtClean="0">
              <a:solidFill>
                <a:schemeClr val="tx1"/>
              </a:solidFill>
            </a:endParaRPr>
          </a:p>
          <a:p>
            <a:pPr algn="r"/>
            <a:endParaRPr lang="en-US" altLang="ko-KR" sz="1200" dirty="0" smtClean="0">
              <a:solidFill>
                <a:schemeClr val="tx1"/>
              </a:solidFill>
            </a:endParaRPr>
          </a:p>
          <a:p>
            <a:pPr algn="r"/>
            <a:endParaRPr lang="en-US" altLang="ko-KR" sz="1200" dirty="0" smtClean="0">
              <a:solidFill>
                <a:schemeClr val="tx1"/>
              </a:solidFill>
            </a:endParaRPr>
          </a:p>
          <a:p>
            <a:pPr algn="r"/>
            <a:r>
              <a:rPr lang="en-US" altLang="ko-KR" sz="1200" dirty="0" err="1">
                <a:solidFill>
                  <a:schemeClr val="tx1"/>
                </a:solidFill>
              </a:rPr>
              <a:t>d</a:t>
            </a:r>
            <a:r>
              <a:rPr lang="en-US" altLang="ko-KR" sz="1200" dirty="0" err="1" smtClean="0">
                <a:solidFill>
                  <a:schemeClr val="tx1"/>
                </a:solidFill>
              </a:rPr>
              <a:t>ino</a:t>
            </a:r>
            <a:r>
              <a:rPr lang="en-US" altLang="ko-KR" sz="1200" dirty="0" err="1" smtClean="0">
                <a:solidFill>
                  <a:schemeClr val="tx1"/>
                </a:solidFill>
              </a:rPr>
              <a:t>core</a:t>
            </a:r>
            <a:endParaRPr lang="en-US" altLang="ko-KR" sz="1200" dirty="0" smtClean="0">
              <a:solidFill>
                <a:schemeClr val="tx1"/>
              </a:solidFill>
            </a:endParaRPr>
          </a:p>
        </p:txBody>
      </p:sp>
      <p:cxnSp>
        <p:nvCxnSpPr>
          <p:cNvPr id="44" name="직선 연결선 43"/>
          <p:cNvCxnSpPr>
            <a:stCxn id="5" idx="0"/>
            <a:endCxn id="42" idx="2"/>
          </p:cNvCxnSpPr>
          <p:nvPr/>
        </p:nvCxnSpPr>
        <p:spPr>
          <a:xfrm flipV="1">
            <a:off x="3470777" y="1848893"/>
            <a:ext cx="0" cy="16178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모서리가 둥근 직사각형 18"/>
          <p:cNvSpPr/>
          <p:nvPr/>
        </p:nvSpPr>
        <p:spPr>
          <a:xfrm>
            <a:off x="1474836" y="3698919"/>
            <a:ext cx="5689452" cy="1394531"/>
          </a:xfrm>
          <a:prstGeom prst="round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1200" dirty="0" smtClean="0">
              <a:solidFill>
                <a:schemeClr val="tx1"/>
              </a:solidFill>
            </a:endParaRPr>
          </a:p>
          <a:p>
            <a:pPr algn="ctr"/>
            <a:endParaRPr lang="en-US" altLang="ko-KR" sz="1200" dirty="0">
              <a:solidFill>
                <a:schemeClr val="tx1"/>
              </a:solidFill>
            </a:endParaRPr>
          </a:p>
          <a:p>
            <a:pPr algn="ctr"/>
            <a:endParaRPr lang="en-US" altLang="ko-KR" sz="1200" dirty="0" smtClean="0">
              <a:solidFill>
                <a:schemeClr val="tx1"/>
              </a:solidFill>
            </a:endParaRPr>
          </a:p>
          <a:p>
            <a:pPr algn="ctr"/>
            <a:endParaRPr lang="en-US" altLang="ko-KR" sz="1200" dirty="0">
              <a:solidFill>
                <a:schemeClr val="tx1"/>
              </a:solidFill>
            </a:endParaRPr>
          </a:p>
          <a:p>
            <a:pPr algn="ctr"/>
            <a:endParaRPr lang="en-US" altLang="ko-KR" sz="1200" dirty="0">
              <a:solidFill>
                <a:schemeClr val="tx1"/>
              </a:solidFill>
            </a:endParaRPr>
          </a:p>
          <a:p>
            <a:pPr algn="r"/>
            <a:r>
              <a:rPr lang="en-US" altLang="ko-KR" sz="1200" dirty="0" err="1" smtClean="0">
                <a:solidFill>
                  <a:schemeClr val="tx1"/>
                </a:solidFill>
              </a:rPr>
              <a:t>dino</a:t>
            </a:r>
            <a:r>
              <a:rPr lang="en-US" altLang="ko-KR" sz="1200" dirty="0" err="1" smtClean="0">
                <a:solidFill>
                  <a:schemeClr val="tx1"/>
                </a:solidFill>
              </a:rPr>
              <a:t>proc</a:t>
            </a:r>
            <a:r>
              <a:rPr lang="en-US" altLang="ko-KR" sz="1200" dirty="0" smtClean="0">
                <a:solidFill>
                  <a:schemeClr val="tx1"/>
                </a:solidFill>
              </a:rPr>
              <a:t>.</a:t>
            </a:r>
            <a:endParaRPr lang="en-US" altLang="ko-KR" sz="1200" dirty="0" smtClean="0">
              <a:solidFill>
                <a:schemeClr val="tx1"/>
              </a:solidFill>
            </a:endParaRPr>
          </a:p>
        </p:txBody>
      </p:sp>
      <p:sp>
        <p:nvSpPr>
          <p:cNvPr id="20" name="모서리가 둥근 직사각형 19"/>
          <p:cNvSpPr/>
          <p:nvPr/>
        </p:nvSpPr>
        <p:spPr>
          <a:xfrm>
            <a:off x="1713127" y="3859256"/>
            <a:ext cx="1133967" cy="257720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 err="1" smtClean="0"/>
              <a:t>binarization</a:t>
            </a:r>
            <a:endParaRPr lang="ko-KR" altLang="en-US" sz="1100" dirty="0"/>
          </a:p>
        </p:txBody>
      </p:sp>
      <p:sp>
        <p:nvSpPr>
          <p:cNvPr id="21" name="모서리가 둥근 직사각형 20"/>
          <p:cNvSpPr/>
          <p:nvPr/>
        </p:nvSpPr>
        <p:spPr>
          <a:xfrm>
            <a:off x="1713127" y="4259114"/>
            <a:ext cx="1133967" cy="257720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 err="1" smtClean="0"/>
              <a:t>cannyedge</a:t>
            </a:r>
            <a:endParaRPr lang="ko-KR" altLang="en-US" sz="1100" dirty="0"/>
          </a:p>
        </p:txBody>
      </p:sp>
      <p:sp>
        <p:nvSpPr>
          <p:cNvPr id="22" name="모서리가 둥근 직사각형 21"/>
          <p:cNvSpPr/>
          <p:nvPr/>
        </p:nvSpPr>
        <p:spPr>
          <a:xfrm>
            <a:off x="1704193" y="4662180"/>
            <a:ext cx="1133967" cy="257720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 err="1" smtClean="0"/>
              <a:t>chaincode</a:t>
            </a:r>
            <a:endParaRPr lang="ko-KR" altLang="en-US" sz="1100" dirty="0"/>
          </a:p>
        </p:txBody>
      </p:sp>
      <p:sp>
        <p:nvSpPr>
          <p:cNvPr id="24" name="모서리가 둥근 직사각형 23"/>
          <p:cNvSpPr/>
          <p:nvPr/>
        </p:nvSpPr>
        <p:spPr>
          <a:xfrm>
            <a:off x="4502619" y="3859256"/>
            <a:ext cx="1133967" cy="257720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 err="1" smtClean="0"/>
              <a:t>convexhull</a:t>
            </a:r>
            <a:endParaRPr lang="ko-KR" altLang="en-US" sz="1100" dirty="0"/>
          </a:p>
        </p:txBody>
      </p:sp>
      <p:sp>
        <p:nvSpPr>
          <p:cNvPr id="25" name="모서리가 둥근 직사각형 24"/>
          <p:cNvSpPr/>
          <p:nvPr/>
        </p:nvSpPr>
        <p:spPr>
          <a:xfrm>
            <a:off x="3107873" y="3851046"/>
            <a:ext cx="1133967" cy="257720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 err="1" smtClean="0"/>
              <a:t>dp</a:t>
            </a:r>
            <a:endParaRPr lang="ko-KR" altLang="en-US" sz="1100" dirty="0"/>
          </a:p>
        </p:txBody>
      </p:sp>
      <p:sp>
        <p:nvSpPr>
          <p:cNvPr id="26" name="모서리가 둥근 직사각형 25"/>
          <p:cNvSpPr/>
          <p:nvPr/>
        </p:nvSpPr>
        <p:spPr>
          <a:xfrm>
            <a:off x="3107873" y="4259114"/>
            <a:ext cx="1133967" cy="257720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 smtClean="0"/>
              <a:t>feature</a:t>
            </a:r>
            <a:endParaRPr lang="ko-KR" altLang="en-US" sz="1100" dirty="0"/>
          </a:p>
        </p:txBody>
      </p:sp>
      <p:sp>
        <p:nvSpPr>
          <p:cNvPr id="27" name="모서리가 둥근 직사각형 26"/>
          <p:cNvSpPr/>
          <p:nvPr/>
        </p:nvSpPr>
        <p:spPr>
          <a:xfrm>
            <a:off x="4502619" y="4271430"/>
            <a:ext cx="1133967" cy="257720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 smtClean="0"/>
              <a:t>filter</a:t>
            </a:r>
            <a:endParaRPr lang="ko-KR" altLang="en-US" sz="1100" dirty="0"/>
          </a:p>
        </p:txBody>
      </p:sp>
      <p:sp>
        <p:nvSpPr>
          <p:cNvPr id="28" name="모서리가 둥근 직사각형 27"/>
          <p:cNvSpPr/>
          <p:nvPr/>
        </p:nvSpPr>
        <p:spPr>
          <a:xfrm>
            <a:off x="4499640" y="4641119"/>
            <a:ext cx="1133967" cy="257720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 smtClean="0"/>
              <a:t>histogram</a:t>
            </a:r>
            <a:endParaRPr lang="ko-KR" altLang="en-US" sz="1100" dirty="0"/>
          </a:p>
        </p:txBody>
      </p:sp>
      <p:sp>
        <p:nvSpPr>
          <p:cNvPr id="29" name="모서리가 둥근 직사각형 28"/>
          <p:cNvSpPr/>
          <p:nvPr/>
        </p:nvSpPr>
        <p:spPr>
          <a:xfrm>
            <a:off x="5897364" y="3851046"/>
            <a:ext cx="1133967" cy="257720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 smtClean="0"/>
              <a:t>labeling</a:t>
            </a:r>
            <a:endParaRPr lang="ko-KR" altLang="en-US" sz="1100" dirty="0"/>
          </a:p>
        </p:txBody>
      </p:sp>
      <p:sp>
        <p:nvSpPr>
          <p:cNvPr id="30" name="모서리가 둥근 직사각형 29"/>
          <p:cNvSpPr/>
          <p:nvPr/>
        </p:nvSpPr>
        <p:spPr>
          <a:xfrm>
            <a:off x="3101917" y="4667182"/>
            <a:ext cx="1133967" cy="257720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 smtClean="0"/>
              <a:t>morphology</a:t>
            </a:r>
            <a:endParaRPr lang="ko-KR" altLang="en-US" sz="1100" dirty="0"/>
          </a:p>
        </p:txBody>
      </p:sp>
      <p:sp>
        <p:nvSpPr>
          <p:cNvPr id="31" name="모서리가 둥근 직사각형 30"/>
          <p:cNvSpPr/>
          <p:nvPr/>
        </p:nvSpPr>
        <p:spPr>
          <a:xfrm>
            <a:off x="5238233" y="2455764"/>
            <a:ext cx="1133967" cy="257720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 err="1" smtClean="0"/>
              <a:t>imgresize</a:t>
            </a:r>
            <a:endParaRPr lang="ko-KR" altLang="en-US" sz="1100" dirty="0"/>
          </a:p>
        </p:txBody>
      </p:sp>
      <p:sp>
        <p:nvSpPr>
          <p:cNvPr id="32" name="모서리가 둥근 직사각형 31"/>
          <p:cNvSpPr/>
          <p:nvPr/>
        </p:nvSpPr>
        <p:spPr>
          <a:xfrm>
            <a:off x="5897364" y="4259114"/>
            <a:ext cx="1133967" cy="257720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 smtClean="0"/>
              <a:t>thinning</a:t>
            </a:r>
            <a:endParaRPr lang="ko-KR" altLang="en-US" sz="1100" dirty="0"/>
          </a:p>
        </p:txBody>
      </p:sp>
      <p:cxnSp>
        <p:nvCxnSpPr>
          <p:cNvPr id="33" name="직선 연결선 32"/>
          <p:cNvCxnSpPr>
            <a:stCxn id="17" idx="2"/>
            <a:endCxn id="19" idx="0"/>
          </p:cNvCxnSpPr>
          <p:nvPr/>
        </p:nvCxnSpPr>
        <p:spPr>
          <a:xfrm flipH="1">
            <a:off x="4319562" y="3442439"/>
            <a:ext cx="410" cy="256480"/>
          </a:xfrm>
          <a:prstGeom prst="line">
            <a:avLst/>
          </a:prstGeom>
          <a:ln w="254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모서리가 둥근 직사각형 41"/>
          <p:cNvSpPr/>
          <p:nvPr/>
        </p:nvSpPr>
        <p:spPr>
          <a:xfrm>
            <a:off x="2903793" y="1591174"/>
            <a:ext cx="1133966" cy="257720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 err="1" smtClean="0"/>
              <a:t>memmgr</a:t>
            </a:r>
            <a:endParaRPr lang="ko-KR" altLang="en-US" sz="1100" dirty="0"/>
          </a:p>
        </p:txBody>
      </p:sp>
      <p:sp>
        <p:nvSpPr>
          <p:cNvPr id="66" name="모서리가 둥근 직사각형 65"/>
          <p:cNvSpPr/>
          <p:nvPr/>
        </p:nvSpPr>
        <p:spPr>
          <a:xfrm>
            <a:off x="2903793" y="1175133"/>
            <a:ext cx="1133966" cy="257720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 err="1" smtClean="0"/>
              <a:t>datastructure</a:t>
            </a:r>
            <a:endParaRPr lang="ko-KR" altLang="en-US" sz="1100" dirty="0"/>
          </a:p>
        </p:txBody>
      </p:sp>
      <p:cxnSp>
        <p:nvCxnSpPr>
          <p:cNvPr id="67" name="직선 연결선 66"/>
          <p:cNvCxnSpPr>
            <a:stCxn id="42" idx="0"/>
            <a:endCxn id="66" idx="2"/>
          </p:cNvCxnSpPr>
          <p:nvPr/>
        </p:nvCxnSpPr>
        <p:spPr>
          <a:xfrm flipV="1">
            <a:off x="3470776" y="1432853"/>
            <a:ext cx="0" cy="15832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직선 연결선 76"/>
          <p:cNvCxnSpPr>
            <a:stCxn id="5" idx="3"/>
            <a:endCxn id="31" idx="1"/>
          </p:cNvCxnSpPr>
          <p:nvPr/>
        </p:nvCxnSpPr>
        <p:spPr>
          <a:xfrm>
            <a:off x="4037759" y="2139538"/>
            <a:ext cx="1200474" cy="44508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0958014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Pragma</a:t>
            </a:r>
            <a:r>
              <a:rPr lang="ko-KR" altLang="en-US" dirty="0"/>
              <a:t>를 이용한 라이브러리 </a:t>
            </a:r>
            <a:r>
              <a:rPr lang="ko-KR" altLang="en-US" dirty="0" smtClean="0"/>
              <a:t>로딩</a:t>
            </a:r>
            <a:r>
              <a:rPr lang="en-US" altLang="ko-KR" dirty="0" smtClean="0"/>
              <a:t>(1/3)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985292"/>
            <a:ext cx="8229600" cy="4191852"/>
          </a:xfrm>
        </p:spPr>
        <p:txBody>
          <a:bodyPr/>
          <a:lstStyle/>
          <a:p>
            <a:r>
              <a:rPr lang="ko-KR" altLang="en-US" dirty="0" smtClean="0"/>
              <a:t>소스코드 상단에 아래의 내용을 입력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1. </a:t>
            </a:r>
            <a:r>
              <a:rPr lang="ko-KR" altLang="en-US" dirty="0" smtClean="0"/>
              <a:t>상대 경로</a:t>
            </a:r>
            <a:r>
              <a:rPr lang="en-US" altLang="ko-KR" dirty="0"/>
              <a:t> </a:t>
            </a:r>
            <a:r>
              <a:rPr lang="ko-KR" altLang="en-US" dirty="0" smtClean="0"/>
              <a:t>혹은 절대경로로 </a:t>
            </a:r>
            <a:r>
              <a:rPr lang="en-US" altLang="ko-KR" dirty="0" smtClean="0"/>
              <a:t>.lib </a:t>
            </a:r>
            <a:r>
              <a:rPr lang="ko-KR" altLang="en-US" dirty="0" smtClean="0"/>
              <a:t>파일의 경로를 입력</a:t>
            </a:r>
            <a:endParaRPr lang="en-US" altLang="ko-KR" dirty="0" smtClean="0"/>
          </a:p>
          <a:p>
            <a:pPr lvl="1"/>
            <a:endParaRPr lang="en-US" altLang="ko-KR" dirty="0" smtClean="0"/>
          </a:p>
          <a:p>
            <a:endParaRPr lang="en-US" altLang="ko-KR" dirty="0" smtClean="0"/>
          </a:p>
        </p:txBody>
      </p:sp>
      <p:sp>
        <p:nvSpPr>
          <p:cNvPr id="7" name="TextBox 6"/>
          <p:cNvSpPr txBox="1"/>
          <p:nvPr/>
        </p:nvSpPr>
        <p:spPr>
          <a:xfrm>
            <a:off x="1598018" y="1676888"/>
            <a:ext cx="6480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#pragma comment(lib, "../Debug/dinocvLib_100d.lib")</a:t>
            </a:r>
            <a:endParaRPr lang="ko-KR" altLang="en-US" dirty="0"/>
          </a:p>
        </p:txBody>
      </p:sp>
      <p:grpSp>
        <p:nvGrpSpPr>
          <p:cNvPr id="14" name="그룹 13"/>
          <p:cNvGrpSpPr/>
          <p:nvPr/>
        </p:nvGrpSpPr>
        <p:grpSpPr>
          <a:xfrm>
            <a:off x="1403647" y="2107452"/>
            <a:ext cx="6768753" cy="3400426"/>
            <a:chOff x="1403647" y="2110880"/>
            <a:chExt cx="6768753" cy="3400426"/>
          </a:xfrm>
        </p:grpSpPr>
        <p:pic>
          <p:nvPicPr>
            <p:cNvPr id="8" name="그림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403647" y="2110881"/>
              <a:ext cx="3381375" cy="3400425"/>
            </a:xfrm>
            <a:prstGeom prst="rect">
              <a:avLst/>
            </a:prstGeom>
          </p:spPr>
        </p:pic>
        <p:sp>
          <p:nvSpPr>
            <p:cNvPr id="9" name="직사각형 8"/>
            <p:cNvSpPr/>
            <p:nvPr/>
          </p:nvSpPr>
          <p:spPr>
            <a:xfrm>
              <a:off x="1907703" y="4729316"/>
              <a:ext cx="1080120" cy="216024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 dirty="0" smtClean="0"/>
            </a:p>
          </p:txBody>
        </p:sp>
        <p:cxnSp>
          <p:nvCxnSpPr>
            <p:cNvPr id="11" name="직선 화살표 연결선 10"/>
            <p:cNvCxnSpPr>
              <a:stCxn id="9" idx="3"/>
            </p:cNvCxnSpPr>
            <p:nvPr/>
          </p:nvCxnSpPr>
          <p:spPr>
            <a:xfrm>
              <a:off x="2987823" y="4837328"/>
              <a:ext cx="2304256" cy="0"/>
            </a:xfrm>
            <a:prstGeom prst="straightConnector1">
              <a:avLst/>
            </a:prstGeom>
            <a:noFill/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2" name="TextBox 11"/>
            <p:cNvSpPr txBox="1"/>
            <p:nvPr/>
          </p:nvSpPr>
          <p:spPr>
            <a:xfrm>
              <a:off x="5364086" y="4652662"/>
              <a:ext cx="280831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 smtClean="0"/>
                <a:t>“</a:t>
              </a:r>
              <a:r>
                <a:rPr lang="ko-KR" altLang="en-US" smtClean="0"/>
                <a:t>현재 소스코드 디렉터리</a:t>
              </a:r>
              <a:r>
                <a:rPr lang="en-US" altLang="ko-KR" dirty="0" smtClean="0"/>
                <a:t>”</a:t>
              </a:r>
              <a:endParaRPr lang="ko-KR" altLang="en-US"/>
            </a:p>
          </p:txBody>
        </p:sp>
        <p:pic>
          <p:nvPicPr>
            <p:cNvPr id="13" name="그림 1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292080" y="2110880"/>
              <a:ext cx="2448272" cy="246206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3234742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Pragma</a:t>
            </a:r>
            <a:r>
              <a:rPr lang="ko-KR" altLang="en-US" dirty="0"/>
              <a:t>를 이용한 라이브러리 </a:t>
            </a:r>
            <a:r>
              <a:rPr lang="ko-KR" altLang="en-US" dirty="0" smtClean="0"/>
              <a:t>로딩</a:t>
            </a:r>
            <a:r>
              <a:rPr lang="en-US" altLang="ko-KR" dirty="0" smtClean="0"/>
              <a:t>(2/3)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1" indent="-342900"/>
            <a:r>
              <a:rPr lang="ko-KR" altLang="en-US" dirty="0"/>
              <a:t>소스코드 상단에 아래의 내용을 입력</a:t>
            </a:r>
            <a:endParaRPr lang="en-US" altLang="ko-KR" dirty="0" smtClean="0"/>
          </a:p>
          <a:p>
            <a:pPr marL="742950" lvl="2" indent="-342900"/>
            <a:r>
              <a:rPr lang="en-US" altLang="ko-KR" dirty="0" smtClean="0"/>
              <a:t>2. </a:t>
            </a:r>
            <a:r>
              <a:rPr lang="ko-KR" altLang="en-US" dirty="0" smtClean="0"/>
              <a:t>사용하려는 </a:t>
            </a:r>
            <a:r>
              <a:rPr lang="ko-KR" altLang="en-US" dirty="0"/>
              <a:t>함수가 있는 </a:t>
            </a:r>
            <a:r>
              <a:rPr lang="en-US" altLang="ko-KR" dirty="0" err="1"/>
              <a:t>heade</a:t>
            </a:r>
            <a:r>
              <a:rPr lang="ko-KR" altLang="en-US" dirty="0"/>
              <a:t>를 </a:t>
            </a:r>
            <a:r>
              <a:rPr lang="ko-KR" altLang="en-US" dirty="0" err="1"/>
              <a:t>인클루드</a:t>
            </a:r>
            <a:r>
              <a:rPr lang="en-US" altLang="ko-KR" dirty="0"/>
              <a:t>(include)</a:t>
            </a:r>
          </a:p>
          <a:p>
            <a:endParaRPr lang="ko-KR" altLang="en-US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68" y="1993404"/>
            <a:ext cx="3381375" cy="34004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627784" y="1586842"/>
            <a:ext cx="3888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mtClean="0"/>
              <a:t>#</a:t>
            </a:r>
            <a:r>
              <a:rPr lang="en-US" altLang="ko-KR" dirty="0"/>
              <a:t>include "../../source/</a:t>
            </a:r>
            <a:r>
              <a:rPr lang="en-US" altLang="ko-KR" dirty="0" err="1"/>
              <a:t>dinocvlib.h</a:t>
            </a:r>
            <a:r>
              <a:rPr lang="en-US" altLang="ko-KR" dirty="0"/>
              <a:t>"</a:t>
            </a:r>
            <a:endParaRPr lang="ko-KR" altLang="en-US"/>
          </a:p>
        </p:txBody>
      </p:sp>
      <p:sp>
        <p:nvSpPr>
          <p:cNvPr id="11" name="직사각형 10"/>
          <p:cNvSpPr/>
          <p:nvPr/>
        </p:nvSpPr>
        <p:spPr>
          <a:xfrm>
            <a:off x="1115616" y="4212340"/>
            <a:ext cx="1080120" cy="2160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 smtClean="0"/>
          </a:p>
        </p:txBody>
      </p:sp>
      <p:cxnSp>
        <p:nvCxnSpPr>
          <p:cNvPr id="12" name="직선 화살표 연결선 11"/>
          <p:cNvCxnSpPr>
            <a:stCxn id="11" idx="3"/>
          </p:cNvCxnSpPr>
          <p:nvPr/>
        </p:nvCxnSpPr>
        <p:spPr>
          <a:xfrm>
            <a:off x="2195736" y="4320352"/>
            <a:ext cx="2304256" cy="0"/>
          </a:xfrm>
          <a:prstGeom prst="straightConnector1">
            <a:avLst/>
          </a:prstGeom>
          <a:noFill/>
          <a:ln>
            <a:solidFill>
              <a:srgbClr val="FF000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3" name="TextBox 12"/>
          <p:cNvSpPr txBox="1"/>
          <p:nvPr/>
        </p:nvSpPr>
        <p:spPr>
          <a:xfrm>
            <a:off x="4572000" y="4135686"/>
            <a:ext cx="29523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“</a:t>
            </a:r>
            <a:r>
              <a:rPr lang="ko-KR" altLang="en-US" smtClean="0"/>
              <a:t>현재 소스코드 디렉터리</a:t>
            </a:r>
            <a:r>
              <a:rPr lang="en-US" altLang="ko-KR" dirty="0" smtClean="0"/>
              <a:t>”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041648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Pragma</a:t>
            </a:r>
            <a:r>
              <a:rPr lang="ko-KR" altLang="en-US" dirty="0"/>
              <a:t>를 </a:t>
            </a:r>
            <a:r>
              <a:rPr lang="ko-KR" altLang="en-US" dirty="0" smtClean="0"/>
              <a:t>이용한 </a:t>
            </a:r>
            <a:r>
              <a:rPr lang="ko-KR" altLang="en-US" dirty="0"/>
              <a:t>라이브러리 </a:t>
            </a:r>
            <a:r>
              <a:rPr lang="ko-KR" altLang="en-US" dirty="0" smtClean="0"/>
              <a:t>로딩</a:t>
            </a:r>
            <a:r>
              <a:rPr lang="en-US" altLang="ko-KR" dirty="0" smtClean="0"/>
              <a:t>(3/3)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라이브러리 테스트</a:t>
            </a: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49388"/>
            <a:ext cx="8388766" cy="2735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062909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프로젝트 속성을 이용한 라이브러리 로딩</a:t>
            </a:r>
            <a:r>
              <a:rPr lang="en-US" altLang="ko-KR" dirty="0" smtClean="0"/>
              <a:t>(1/8)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smtClean="0"/>
              <a:t>“</a:t>
            </a:r>
            <a:r>
              <a:rPr lang="ko-KR" altLang="en-US" dirty="0" smtClean="0"/>
              <a:t>프로젝트 속성 </a:t>
            </a:r>
            <a:r>
              <a:rPr lang="en-US" altLang="ko-KR" dirty="0" smtClean="0"/>
              <a:t>–&gt; VC++ </a:t>
            </a:r>
            <a:r>
              <a:rPr lang="ko-KR" altLang="en-US" dirty="0" smtClean="0"/>
              <a:t>디렉터리</a:t>
            </a:r>
            <a:r>
              <a:rPr lang="en-US" altLang="ko-KR" dirty="0" smtClean="0"/>
              <a:t>” </a:t>
            </a:r>
            <a:r>
              <a:rPr lang="ko-KR" altLang="en-US" dirty="0" smtClean="0"/>
              <a:t>에서</a:t>
            </a:r>
            <a:endParaRPr lang="en-US" altLang="ko-KR" dirty="0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8738" y="1397322"/>
            <a:ext cx="5086523" cy="4114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052923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프로젝트 속성을 이용한 라이브러리 로딩</a:t>
            </a:r>
            <a:r>
              <a:rPr lang="en-US" altLang="ko-KR" dirty="0"/>
              <a:t>(</a:t>
            </a:r>
            <a:r>
              <a:rPr lang="en-US" altLang="ko-KR" dirty="0" smtClean="0"/>
              <a:t>2/8)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포함 디렉터리에 라이브러리의 </a:t>
            </a:r>
            <a:r>
              <a:rPr lang="en-US" altLang="ko-KR" dirty="0" smtClean="0"/>
              <a:t>.h </a:t>
            </a:r>
            <a:r>
              <a:rPr lang="ko-KR" altLang="en-US" dirty="0" smtClean="0"/>
              <a:t>파일이 있는 위치 추가</a:t>
            </a:r>
            <a:endParaRPr lang="en-US" altLang="ko-KR" dirty="0" smtClean="0"/>
          </a:p>
          <a:p>
            <a:endParaRPr lang="en-US" altLang="ko-KR" dirty="0"/>
          </a:p>
        </p:txBody>
      </p:sp>
      <p:grpSp>
        <p:nvGrpSpPr>
          <p:cNvPr id="6" name="그룹 5"/>
          <p:cNvGrpSpPr/>
          <p:nvPr/>
        </p:nvGrpSpPr>
        <p:grpSpPr>
          <a:xfrm>
            <a:off x="782774" y="1993404"/>
            <a:ext cx="7578451" cy="3179239"/>
            <a:chOff x="696517" y="1925897"/>
            <a:chExt cx="7578451" cy="3179239"/>
          </a:xfrm>
        </p:grpSpPr>
        <p:pic>
          <p:nvPicPr>
            <p:cNvPr id="4" name="그림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96517" y="2101055"/>
              <a:ext cx="3038475" cy="2828925"/>
            </a:xfrm>
            <a:prstGeom prst="rect">
              <a:avLst/>
            </a:prstGeom>
          </p:spPr>
        </p:pic>
        <p:pic>
          <p:nvPicPr>
            <p:cNvPr id="5" name="그림 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146823" y="1925897"/>
              <a:ext cx="4128145" cy="317923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18899323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프로젝트 속성을 이용한 라이브러리 </a:t>
            </a:r>
            <a:r>
              <a:rPr lang="ko-KR" altLang="en-US" dirty="0" smtClean="0"/>
              <a:t>로딩</a:t>
            </a:r>
            <a:r>
              <a:rPr lang="en-US" altLang="ko-KR" dirty="0" smtClean="0"/>
              <a:t>(3/8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라이브러리 </a:t>
            </a:r>
            <a:r>
              <a:rPr lang="ko-KR" altLang="en-US" dirty="0"/>
              <a:t>디렉터리에 </a:t>
            </a:r>
            <a:r>
              <a:rPr lang="en-US" altLang="ko-KR" dirty="0" smtClean="0"/>
              <a:t>.lib </a:t>
            </a:r>
            <a:r>
              <a:rPr lang="ko-KR" altLang="en-US" dirty="0"/>
              <a:t>파일이 있는 위치 추가</a:t>
            </a:r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229817"/>
            <a:ext cx="3514725" cy="2828925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5343" y="1921396"/>
            <a:ext cx="4474224" cy="3445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3289648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프로젝트 속성을 이용한 라이브러리 </a:t>
            </a:r>
            <a:r>
              <a:rPr lang="ko-KR" altLang="en-US" dirty="0" smtClean="0"/>
              <a:t>로딩</a:t>
            </a:r>
            <a:r>
              <a:rPr lang="en-US" altLang="ko-KR" dirty="0" smtClean="0"/>
              <a:t>(4/8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smtClean="0"/>
              <a:t>“</a:t>
            </a:r>
            <a:r>
              <a:rPr lang="ko-KR" altLang="en-US" dirty="0" err="1" smtClean="0"/>
              <a:t>링커</a:t>
            </a:r>
            <a:r>
              <a:rPr lang="ko-KR" altLang="en-US" dirty="0" smtClean="0"/>
              <a:t> </a:t>
            </a:r>
            <a:r>
              <a:rPr lang="en-US" altLang="ko-KR" dirty="0" smtClean="0"/>
              <a:t>-&gt; </a:t>
            </a:r>
            <a:r>
              <a:rPr lang="ko-KR" altLang="en-US" dirty="0" smtClean="0"/>
              <a:t>입력 </a:t>
            </a:r>
            <a:r>
              <a:rPr lang="en-US" altLang="ko-KR" dirty="0" smtClean="0"/>
              <a:t>-&gt; </a:t>
            </a:r>
            <a:r>
              <a:rPr lang="ko-KR" altLang="en-US" dirty="0" smtClean="0"/>
              <a:t>추가 종속성</a:t>
            </a:r>
            <a:r>
              <a:rPr lang="en-US" altLang="ko-KR" dirty="0" smtClean="0"/>
              <a:t>” </a:t>
            </a:r>
            <a:r>
              <a:rPr lang="ko-KR" altLang="en-US" dirty="0" smtClean="0"/>
              <a:t>에서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1720" y="1417340"/>
            <a:ext cx="4909687" cy="3971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06963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프로젝트 속성을 이용한 라이브러리 </a:t>
            </a:r>
            <a:r>
              <a:rPr lang="ko-KR" altLang="en-US" dirty="0" smtClean="0"/>
              <a:t>로딩</a:t>
            </a:r>
            <a:r>
              <a:rPr lang="en-US" altLang="ko-KR" dirty="0" smtClean="0"/>
              <a:t>(5/8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라이브러리의 </a:t>
            </a:r>
            <a:r>
              <a:rPr lang="en-US" altLang="ko-KR" dirty="0" smtClean="0"/>
              <a:t>.lib </a:t>
            </a:r>
            <a:r>
              <a:rPr lang="ko-KR" altLang="en-US" dirty="0" smtClean="0"/>
              <a:t>파일 이름을 추가하고 확인</a:t>
            </a:r>
            <a:endParaRPr lang="ko-KR" altLang="en-US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2"/>
          <a:srcRect r="14578" b="59219"/>
          <a:stretch/>
        </p:blipFill>
        <p:spPr>
          <a:xfrm>
            <a:off x="2427526" y="3061858"/>
            <a:ext cx="6598692" cy="2548136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536" y="1434917"/>
            <a:ext cx="3384376" cy="2606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171300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프로젝트 속성을 이용한 라이브러리 </a:t>
            </a:r>
            <a:r>
              <a:rPr lang="ko-KR" altLang="en-US" dirty="0" smtClean="0"/>
              <a:t>로딩</a:t>
            </a:r>
            <a:r>
              <a:rPr lang="en-US" altLang="ko-KR" dirty="0" smtClean="0"/>
              <a:t>(6/8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시스템 환경변수 설정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내 컴퓨터 속성</a:t>
            </a:r>
            <a:endParaRPr lang="en-US" altLang="ko-KR" dirty="0" smtClean="0"/>
          </a:p>
          <a:p>
            <a:pPr lvl="2"/>
            <a:r>
              <a:rPr lang="en-US" altLang="ko-KR" dirty="0" smtClean="0"/>
              <a:t>“</a:t>
            </a:r>
            <a:r>
              <a:rPr lang="ko-KR" altLang="en-US" dirty="0" smtClean="0"/>
              <a:t>내 </a:t>
            </a:r>
            <a:r>
              <a:rPr lang="en-US" altLang="ko-KR" dirty="0" smtClean="0"/>
              <a:t>PC” </a:t>
            </a:r>
            <a:r>
              <a:rPr lang="ko-KR" altLang="en-US" dirty="0" smtClean="0"/>
              <a:t>아이콘 마우스 오른쪽 클릭 뒤 속성</a:t>
            </a:r>
            <a:r>
              <a:rPr lang="en-US" altLang="ko-KR" dirty="0" smtClean="0"/>
              <a:t>(R) </a:t>
            </a:r>
            <a:r>
              <a:rPr lang="ko-KR" altLang="en-US" dirty="0" smtClean="0"/>
              <a:t>혹은</a:t>
            </a:r>
            <a:r>
              <a:rPr lang="en-US" altLang="ko-KR" dirty="0" smtClean="0"/>
              <a:t>,</a:t>
            </a:r>
          </a:p>
          <a:p>
            <a:pPr lvl="2"/>
            <a:r>
              <a:rPr lang="ko-KR" altLang="en-US" dirty="0" smtClean="0"/>
              <a:t>제어판</a:t>
            </a:r>
            <a:r>
              <a:rPr lang="en-US" altLang="ko-KR" dirty="0" smtClean="0"/>
              <a:t>-&gt;</a:t>
            </a:r>
            <a:r>
              <a:rPr lang="ko-KR" altLang="en-US" dirty="0" smtClean="0"/>
              <a:t>시스템 및 보안 </a:t>
            </a:r>
            <a:r>
              <a:rPr lang="en-US" altLang="ko-KR" dirty="0" smtClean="0"/>
              <a:t>-&gt; </a:t>
            </a:r>
            <a:r>
              <a:rPr lang="ko-KR" altLang="en-US" dirty="0" smtClean="0"/>
              <a:t>시스템</a:t>
            </a:r>
            <a:endParaRPr lang="en-US" altLang="ko-KR" dirty="0" smtClean="0"/>
          </a:p>
          <a:p>
            <a:pPr lvl="2"/>
            <a:endParaRPr lang="en-US" altLang="ko-KR" dirty="0"/>
          </a:p>
          <a:p>
            <a:pPr lvl="1"/>
            <a:r>
              <a:rPr lang="ko-KR" altLang="en-US" dirty="0" smtClean="0"/>
              <a:t>고급 시스템 설정</a:t>
            </a:r>
            <a:endParaRPr lang="en-US" altLang="ko-KR" dirty="0"/>
          </a:p>
          <a:p>
            <a:pPr lvl="2"/>
            <a:r>
              <a:rPr lang="ko-KR" altLang="en-US" dirty="0" smtClean="0"/>
              <a:t>시스템 속성</a:t>
            </a:r>
            <a:endParaRPr lang="en-US" altLang="ko-KR" dirty="0" smtClean="0"/>
          </a:p>
          <a:p>
            <a:pPr lvl="3"/>
            <a:r>
              <a:rPr lang="ko-KR" altLang="en-US" dirty="0" smtClean="0"/>
              <a:t>환경변수 클릭</a:t>
            </a:r>
            <a:endParaRPr lang="en-US" altLang="ko-KR" dirty="0" smtClean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7904" y="2569468"/>
            <a:ext cx="3810000" cy="2857500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3568512" y="3402442"/>
            <a:ext cx="1080120" cy="2160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 smtClean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3311" y="2830652"/>
            <a:ext cx="2131889" cy="2335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7930393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프로젝트 속성을 이용한 라이브러리 </a:t>
            </a:r>
            <a:r>
              <a:rPr lang="ko-KR" altLang="en-US" dirty="0" smtClean="0"/>
              <a:t>로딩</a:t>
            </a:r>
            <a:r>
              <a:rPr lang="en-US" altLang="ko-KR" dirty="0" smtClean="0"/>
              <a:t>(7/8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새로 만들기에서 아래 내용 입력 후 확인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변수이름 </a:t>
            </a:r>
            <a:r>
              <a:rPr lang="en-US" altLang="ko-KR" dirty="0" smtClean="0"/>
              <a:t>: </a:t>
            </a:r>
            <a:r>
              <a:rPr lang="en-US" altLang="ko-KR" dirty="0" err="1" smtClean="0"/>
              <a:t>dinocvLib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변수 값 </a:t>
            </a:r>
            <a:r>
              <a:rPr lang="en-US" altLang="ko-KR" dirty="0" smtClean="0"/>
              <a:t>: (.</a:t>
            </a:r>
            <a:r>
              <a:rPr lang="en-US" altLang="ko-KR" dirty="0" err="1" smtClean="0"/>
              <a:t>dll</a:t>
            </a:r>
            <a:r>
              <a:rPr lang="en-US" altLang="ko-KR" dirty="0" smtClean="0"/>
              <a:t> </a:t>
            </a:r>
            <a:r>
              <a:rPr lang="ko-KR" altLang="en-US" dirty="0" smtClean="0"/>
              <a:t>파일의 절대 경로 입력</a:t>
            </a:r>
            <a:r>
              <a:rPr lang="en-US" altLang="ko-KR" dirty="0" smtClean="0"/>
              <a:t>)</a:t>
            </a:r>
          </a:p>
          <a:p>
            <a:pPr lvl="1"/>
            <a:endParaRPr lang="en-US" altLang="ko-KR" dirty="0"/>
          </a:p>
          <a:p>
            <a:r>
              <a:rPr lang="ko-KR" altLang="en-US" dirty="0" smtClean="0"/>
              <a:t>시스템 변수의 </a:t>
            </a:r>
            <a:r>
              <a:rPr lang="en-US" altLang="ko-KR" dirty="0" smtClean="0"/>
              <a:t>Path</a:t>
            </a:r>
            <a:r>
              <a:rPr lang="ko-KR" altLang="en-US" dirty="0" smtClean="0"/>
              <a:t>의 끝에 </a:t>
            </a:r>
            <a:r>
              <a:rPr lang="en-US" altLang="ko-KR" dirty="0" smtClean="0"/>
              <a:t>%</a:t>
            </a:r>
            <a:r>
              <a:rPr lang="en-US" altLang="ko-KR" dirty="0" err="1" smtClean="0"/>
              <a:t>dinocvLib</a:t>
            </a:r>
            <a:r>
              <a:rPr lang="en-US" altLang="ko-KR" dirty="0" smtClean="0"/>
              <a:t>% </a:t>
            </a:r>
            <a:r>
              <a:rPr lang="ko-KR" altLang="en-US" dirty="0" smtClean="0"/>
              <a:t>입력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환경 변수간 구분은 세미콜론 </a:t>
            </a:r>
            <a:r>
              <a:rPr lang="en-US" altLang="ko-KR" dirty="0" smtClean="0"/>
              <a:t>‘;’ </a:t>
            </a:r>
            <a:r>
              <a:rPr lang="ko-KR" altLang="en-US" dirty="0" smtClean="0"/>
              <a:t>으로 하기 때문에 </a:t>
            </a:r>
            <a:r>
              <a:rPr lang="en-US" altLang="ko-KR" dirty="0" smtClean="0"/>
              <a:t>‘;’</a:t>
            </a:r>
            <a:r>
              <a:rPr lang="ko-KR" altLang="en-US" dirty="0" smtClean="0"/>
              <a:t>을 먼저 붙이고 입력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7402125"/>
      </p:ext>
    </p:extLst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프로젝트 속성을 이용한 라이브러리 로딩</a:t>
            </a:r>
            <a:r>
              <a:rPr lang="en-US" altLang="ko-KR" dirty="0" smtClean="0"/>
              <a:t>(8/8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라이브러리 테스트</a:t>
            </a:r>
          </a:p>
          <a:p>
            <a:endParaRPr lang="ko-KR" altLang="en-US" dirty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587" y="1776412"/>
            <a:ext cx="7362825" cy="2162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9436736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>
            <a:lumMod val="50000"/>
          </a:schemeClr>
        </a:solidFill>
        <a:ln>
          <a:noFill/>
        </a:ln>
      </a:spPr>
      <a:bodyPr rtlCol="0" anchor="ctr"/>
      <a:lstStyle>
        <a:defPPr algn="ctr">
          <a:defRPr sz="1400"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bg1">
              <a:lumMod val="50000"/>
            </a:schemeClr>
          </a:solidFill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1651</TotalTime>
  <Words>310</Words>
  <Application>Microsoft Office PowerPoint</Application>
  <PresentationFormat>화면 슬라이드 쇼(16:10)</PresentationFormat>
  <Paragraphs>90</Paragraphs>
  <Slides>14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20" baseType="lpstr">
      <vt:lpstr>HY나무L</vt:lpstr>
      <vt:lpstr>Microsoft YaHei UI Light</vt:lpstr>
      <vt:lpstr>맑은 고딕</vt:lpstr>
      <vt:lpstr>Arial</vt:lpstr>
      <vt:lpstr>Wingdings</vt:lpstr>
      <vt:lpstr>Office 테마</vt:lpstr>
      <vt:lpstr>dinocvLib 적용 및 테스트</vt:lpstr>
      <vt:lpstr>Contents</vt:lpstr>
      <vt:lpstr>라이브러리 디자인</vt:lpstr>
      <vt:lpstr>Pragma를 이용한 라이브러리 로딩(1/3)</vt:lpstr>
      <vt:lpstr>Pragma를 이용한 라이브러리 로딩(2/3)</vt:lpstr>
      <vt:lpstr>Pragma를 이용한 라이브러리 로딩(3/3)</vt:lpstr>
      <vt:lpstr>프로젝트 속성을 이용한 라이브러리 로딩(1/8)</vt:lpstr>
      <vt:lpstr>프로젝트 속성을 이용한 라이브러리 로딩(2/8)</vt:lpstr>
      <vt:lpstr>프로젝트 속성을 이용한 라이브러리 로딩(3/8)</vt:lpstr>
      <vt:lpstr>프로젝트 속성을 이용한 라이브러리 로딩(4/8)</vt:lpstr>
      <vt:lpstr>프로젝트 속성을 이용한 라이브러리 로딩(5/8)</vt:lpstr>
      <vt:lpstr>프로젝트 속성을 이용한 라이브러리 로딩(6/8)</vt:lpstr>
      <vt:lpstr>프로젝트 속성을 이용한 라이브러리 로딩(7/8)</vt:lpstr>
      <vt:lpstr>프로젝트 속성을 이용한 라이브러리 로딩(8/8)</vt:lpstr>
    </vt:vector>
  </TitlesOfParts>
  <Company>R&amp;D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Microsoft Corporation</dc:creator>
  <cp:lastModifiedBy>byeongju park</cp:lastModifiedBy>
  <cp:revision>119</cp:revision>
  <dcterms:created xsi:type="dcterms:W3CDTF">2006-10-05T04:04:58Z</dcterms:created>
  <dcterms:modified xsi:type="dcterms:W3CDTF">2015-03-24T16:09:38Z</dcterms:modified>
</cp:coreProperties>
</file>